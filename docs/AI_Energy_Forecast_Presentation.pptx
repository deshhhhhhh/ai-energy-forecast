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0ee0d4d4-4763-3712-61ac-c9f87c8cd590}">
          <p14:sldIdLst>
            <p14:sldId id="256"/>
            <p14:sldId id="257"/>
            <p14:sldId id="258"/>
          </p14:sldIdLst>
        </p14:section>
        <p14:section name="Build" id="{1993de02-9168-6629-1ef6-88a18811592c}">
          <p14:sldIdLst>
            <p14:sldId id="259"/>
            <p14:sldId id="260"/>
            <p14:sldId id="261"/>
          </p14:sldIdLst>
        </p14:section>
        <p14:section name="Results" id="{6da91e64-4d5f-d977-dd10-c43f3a96f68e}">
          <p14:sldIdLst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F2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B1F2A"/>
                </a:solidFill>
                <a:latin typeface="+mn-lt"/>
              </a:rPr>
              <a:t>All regions, monthly cost (K USD)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cost (K USD)</c:v>
                </c:pt>
              </c:strCache>
            </c:strRef>
          </c:tx>
          <c:spPr>
            <a:solidFill>
              <a:srgbClr val="00A67A"/>
            </a:solidFill>
            <a:ln w="38100" cap="flat">
              <a:solidFill>
                <a:srgbClr val="00A67A"/>
              </a:solidFill>
              <a:prstDash val="solid"/>
              <a:round/>
            </a:ln>
            <a:effectLst/>
          </c:spPr>
          <c:invertIfNegative val="0"/>
          <c:dLbls>
            <c:numFmt formatCode="0&quot;K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F2A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00A67A"/>
              </a:solidFill>
              <a:ln w="9525" cap="flat">
                <a:solidFill>
                  <a:srgbClr val="00A6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Jan 2024</c:v>
                  </c:pt>
                  <c:pt idx="1">
                    <c:v>Dec 2025</c:v>
                  </c:pt>
                  <c:pt idx="2">
                    <c:v>Dec 2026 (forecast)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</c:v>
                </c:pt>
                <c:pt idx="1">
                  <c:v>97</c:v>
                </c:pt>
                <c:pt idx="2">
                  <c:v>117</c:v>
                </c:pt>
              </c:numCache>
            </c:numRef>
          </c:val>
          <c:smooth val="0"/>
        </c:ser>
        <c:dLbls>
          <c:numFmt formatCode="0&quot;K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B1F2A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B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0"/>
        </c:scaling>
        <c:delete val="0"/>
        <c:axPos val="l"/>
        <c:majorGridlines>
          <c:spPr>
            <a:ln w="9525" cap="flat">
              <a:solidFill>
                <a:srgbClr val="DCE6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B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F2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B1F2A"/>
                </a:solidFill>
                <a:latin typeface="+mn-lt"/>
              </a:rPr>
              <a:t>Spot price per GPU-hour (USD)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Spot USD per GPU-hour</c:v>
                </c:pt>
              </c:strCache>
            </c:strRef>
          </c:tx>
          <c:spPr>
            <a:solidFill>
              <a:srgbClr val="B7C6CC"/>
            </a:solidFill>
            <a:effectLst/>
          </c:spPr>
          <c:invertIfNegative val="0"/>
          <c:dLbls>
            <c:numFmt formatCode="$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7C6C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7C6C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7C6C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A67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ap-south-1</c:v>
                  </c:pt>
                  <c:pt idx="1">
                    <c:v>ap-southeast-2</c:v>
                  </c:pt>
                  <c:pt idx="2">
                    <c:v>eu-north-1</c:v>
                  </c:pt>
                  <c:pt idx="3">
                    <c:v>us-east-1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4.64</c:v>
                </c:pt>
                <c:pt idx="1">
                  <c:v>4.47</c:v>
                </c:pt>
                <c:pt idx="2">
                  <c:v>4.03</c:v>
                </c:pt>
                <c:pt idx="3">
                  <c:v>3.68</c:v>
                </c:pt>
              </c:numCache>
            </c:numRef>
          </c:val>
        </c:ser>
        <c:dLbls>
          <c:numFmt formatCode="$0.00" sourceLinked="0"/>
          <c:txPr>
            <a:bodyPr/>
            <a:lstStyle/>
            <a:p>
              <a:pPr>
                <a:defRPr b="0" i="0" strike="noStrike" sz="1200" u="none">
                  <a:solidFill>
                    <a:srgbClr val="0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B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F2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B1F2A"/>
                </a:solidFill>
                <a:latin typeface="+mn-lt"/>
              </a:rPr>
              <a:t>Carbon, 2024-2026 (million kg, approx.)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Carbon (million kg)</c:v>
                </c:pt>
              </c:strCache>
            </c:strRef>
          </c:tx>
          <c:spPr>
            <a:solidFill>
              <a:srgbClr val="B7C6C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7C6C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7C6C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7C6C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A67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ap-south-1</c:v>
                  </c:pt>
                  <c:pt idx="1">
                    <c:v>ap-southeast-2</c:v>
                  </c:pt>
                  <c:pt idx="2">
                    <c:v>us-east-1</c:v>
                  </c:pt>
                  <c:pt idx="3">
                    <c:v>eu-north-1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5.1</c:v>
                </c:pt>
                <c:pt idx="1">
                  <c:v>3.9</c:v>
                </c:pt>
                <c:pt idx="2">
                  <c:v>2.7</c:v>
                </c:pt>
                <c:pt idx="3">
                  <c:v>0.2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B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48640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5120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AI Data Center Energy and Cost Forecasting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Forecasting 2026 power, cost and carbon, and choosing the best region to run GPU workloads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35040" y="731520"/>
            <a:ext cx="2834640" cy="2834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37960" y="1234440"/>
            <a:ext cx="1828800" cy="1828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691640"/>
            <a:ext cx="914400" cy="914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33375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321040" y="54864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4160520"/>
            <a:ext cx="1097280" cy="347472"/>
          </a:xfrm>
          <a:prstGeom prst="roundRect">
            <a:avLst>
              <a:gd name="adj" fmla="val 39474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41605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AWS S3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783080" y="4160520"/>
            <a:ext cx="1097280" cy="347472"/>
          </a:xfrm>
          <a:prstGeom prst="roundRect">
            <a:avLst>
              <a:gd name="adj" fmla="val 39474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783080" y="41605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Athena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017520" y="4160520"/>
            <a:ext cx="1234440" cy="347472"/>
          </a:xfrm>
          <a:prstGeom prst="roundRect">
            <a:avLst>
              <a:gd name="adj" fmla="val 39474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17520" y="41605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SageMaker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389120" y="4160520"/>
            <a:ext cx="1097280" cy="347472"/>
          </a:xfrm>
          <a:prstGeom prst="roundRect">
            <a:avLst>
              <a:gd name="adj" fmla="val 39474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89120" y="41605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Power BI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AI is outgrowing its power budget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269748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508760"/>
            <a:ext cx="685800" cy="6858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168021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demand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7889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GPU clusters draw far more electricity every year, and the growth is hard to predict.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560320" cy="269748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66160" y="150876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610" y="168021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cost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27889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Energy and instance prices differ by region, so budgets drift without a forecast.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234440"/>
            <a:ext cx="2560320" cy="269748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0" y="15087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168021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Carbon impact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27889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same workload can emit over 20x more CO2 depending on where it runs.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accent6"/>
                </a:solidFill>
              </a:rPr>
              <a:t>Key question: where and when should we run GPU workloads?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Objective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291840" cy="3291840"/>
          </a:xfrm>
          <a:prstGeom prst="roundRect">
            <a:avLst>
              <a:gd name="adj" fmla="val 222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2026 and recommend the best region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" y="3703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3822192"/>
            <a:ext cx="219456" cy="2194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023360" y="1234440"/>
            <a:ext cx="466344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157734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120640" y="13898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5120640" y="17556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Monthly energy, cost and carbon for each region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023360" y="2377440"/>
            <a:ext cx="466344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251960" y="2560320"/>
            <a:ext cx="640080" cy="6400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980" y="272034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20640" y="25328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Cheapest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5120640" y="28986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Lowest GPU price per hour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4023360" y="3520440"/>
            <a:ext cx="466344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251960" y="37033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980" y="386334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120640" y="36758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Greenest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5120640" y="40416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Lowest carbon emitted per kWh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Cloud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43000" cy="169164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46304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161163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1945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Sources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4871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3 raw datasets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645920" y="2002536"/>
            <a:ext cx="201168" cy="201168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874520" y="1280160"/>
            <a:ext cx="1143000" cy="169164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148840" y="146304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430" y="161163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874520" y="21945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S3 raw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920240" y="24871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raw/ folders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063240" y="2002536"/>
            <a:ext cx="201168" cy="201168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291840" y="1280160"/>
            <a:ext cx="1143000" cy="169164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566160" y="1463040"/>
            <a:ext cx="594360" cy="5943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0" y="1611630"/>
            <a:ext cx="297180" cy="2971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291840" y="21945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Athena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3337560" y="24871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SQL + cleaning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480560" y="2002536"/>
            <a:ext cx="201168" cy="201168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09160" y="1280160"/>
            <a:ext cx="1143000" cy="169164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983480" y="146304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2070" y="1611630"/>
            <a:ext cx="297180" cy="2971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709160" y="21945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S3 processed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4754880" y="24871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Monthly Parquet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897880" y="2002536"/>
            <a:ext cx="201168" cy="201168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126480" y="1280160"/>
            <a:ext cx="1143000" cy="169164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0" y="1463040"/>
            <a:ext cx="594360" cy="5943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9390" y="1611630"/>
            <a:ext cx="297180" cy="29718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126480" y="21945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SageMaker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6172200" y="24871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Trend forecast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7315200" y="2002536"/>
            <a:ext cx="201168" cy="201168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7543800" y="1280160"/>
            <a:ext cx="1143000" cy="169164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818120" y="14630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6710" y="1611630"/>
            <a:ext cx="297180" cy="29718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7543800" y="21945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Power BI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7589520" y="24871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Dashboard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457200" y="3291840"/>
            <a:ext cx="8229600" cy="1234440"/>
          </a:xfrm>
          <a:prstGeom prst="roundRect">
            <a:avLst>
              <a:gd name="adj" fmla="val 59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777240" y="345643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and scale</a:t>
            </a:r>
            <a:endParaRPr lang="en-US" sz="1800" dirty="0"/>
          </a:p>
        </p:txBody>
      </p:sp>
      <p:sp>
        <p:nvSpPr>
          <p:cNvPr id="40" name="Text 32"/>
          <p:cNvSpPr txBox="1"/>
          <p:nvPr/>
        </p:nvSpPr>
        <p:spPr>
          <a:xfrm>
            <a:off x="777240" y="3822192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S3, Athena and a stopped notebook cost almost nothing at this size. Production would add scheduled Glue jobs, SageMaker pipelines and streaming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Data and method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74520" cy="1508760"/>
          </a:xfrm>
          <a:prstGeom prst="roundRect">
            <a:avLst>
              <a:gd name="adj" fmla="val 484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70,176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simulated hourly GPU rows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29870" y="1234440"/>
            <a:ext cx="1874520" cy="1508760"/>
          </a:xfrm>
          <a:prstGeom prst="roundRect">
            <a:avLst>
              <a:gd name="adj" fmla="val 484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29870" y="13716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2621310" y="2103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regions compared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02541" y="1234440"/>
            <a:ext cx="1874520" cy="1508760"/>
          </a:xfrm>
          <a:prstGeom prst="roundRect">
            <a:avLst>
              <a:gd name="adj" fmla="val 484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02541" y="13716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4693981" y="2103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monthly summary rows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211" y="1234440"/>
            <a:ext cx="1874520" cy="1508760"/>
          </a:xfrm>
          <a:prstGeom prst="roundRect">
            <a:avLst>
              <a:gd name="adj" fmla="val 484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75211" y="13716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6766651" y="2103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months forecast (2026)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822960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3154680"/>
            <a:ext cx="7589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Athena cleaned the timestamps and built the monthly summary table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SageMaker fitted a linear trend per region and per metric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Forecast results were saved to S3 and loaded into Power BI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Power BI dashboard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669280" cy="3304734"/>
          </a:xfrm>
          <a:prstGeom prst="roundRect">
            <a:avLst>
              <a:gd name="adj" fmla="val 166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/mnt/user-data/uploads/1791869232295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486400" cy="312185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123444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37160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086600" y="1188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Actual vs forecast cost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400800" y="233172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46888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086600" y="2286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Region slicer filters the visuals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400800" y="342900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56616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086600" y="3383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Cost, carbon and GPU price compared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Monthly cost keeps climbing into 2026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212080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4" name="Chart 0" descr=""/>
          <p:cNvGraphicFramePr/>
          <p:nvPr/>
        </p:nvGraphicFramePr>
        <p:xfrm>
          <a:off x="594360" y="1371600"/>
          <a:ext cx="49377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234440"/>
            <a:ext cx="2743200" cy="1554480"/>
          </a:xfrm>
          <a:prstGeom prst="roundRect">
            <a:avLst>
              <a:gd name="adj" fmla="val 470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0" y="1371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~2.2x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103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monthly cost, Jan 2024 to Dec 2026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0" y="2971800"/>
            <a:ext cx="2743200" cy="1554480"/>
          </a:xfrm>
          <a:prstGeom prst="roundRect">
            <a:avLst>
              <a:gd name="adj" fmla="val 470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0" y="31089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~117K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3840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USD forecast for Dec 2026, all regions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Cheapest and cleanest are different regions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97764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4" name="Chart 0" descr=""/>
          <p:cNvGraphicFramePr/>
          <p:nvPr/>
        </p:nvGraphicFramePr>
        <p:xfrm>
          <a:off x="548640" y="1325880"/>
          <a:ext cx="37947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709160" y="1234440"/>
            <a:ext cx="397764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6" name="Chart 1" descr=""/>
          <p:cNvGraphicFramePr/>
          <p:nvPr/>
        </p:nvGraphicFramePr>
        <p:xfrm>
          <a:off x="4800600" y="1325880"/>
          <a:ext cx="37947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Cheapest GPU price: us-east-1.  Lowest carbon and energy cost: eu-north-1.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Where to run GPU workloads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977640" cy="2514600"/>
          </a:xfrm>
          <a:prstGeom prst="roundRect">
            <a:avLst>
              <a:gd name="adj" fmla="val 2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0876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508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Cheapest GPU price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860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us-east-1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63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$3.68 per GPU-hour on spot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09160" y="1234440"/>
            <a:ext cx="3977640" cy="2514600"/>
          </a:xfrm>
          <a:prstGeom prst="roundRect">
            <a:avLst>
              <a:gd name="adj" fmla="val 2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220" y="16687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852160" y="1508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Greenest and lowest energy cost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029200" y="22860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eu-north-1</a:t>
            </a:r>
            <a:endParaRPr lang="en-US" sz="3800" dirty="0"/>
          </a:p>
        </p:txBody>
      </p:sp>
      <p:sp>
        <p:nvSpPr>
          <p:cNvPr id="14" name="Text 10"/>
          <p:cNvSpPr txBox="1"/>
          <p:nvPr/>
        </p:nvSpPr>
        <p:spPr>
          <a:xfrm>
            <a:off x="5029200" y="3063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30 g CO2 per kWh, lowest electricity bill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Run flexible training jobs in eu-north-1. Use us-east-1 spot when hourly price matters most.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Limitations and 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977640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002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463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94560"/>
            <a:ext cx="3383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GPU usage and prices are simulated or illustrative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Linear trend only, no seasonality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Glue crawler was blocked, so tables were built manually in Athena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Power BI reads downloaded CSVs, not live S3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09160" y="1234440"/>
            <a:ext cx="3977640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8348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002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463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5029200" y="2194560"/>
            <a:ext cx="3383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Cheapest hour to run (time-of-day analysis)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Prophet or SageMaker DeepAR for seasonality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Live prices from the AWS Pricing API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Live Athena connection in Power BI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ergyForecast">
  <a:themeElements>
    <a:clrScheme name="EnergyForecast">
      <a:dk1>
        <a:srgbClr val="0B1F2A"/>
      </a:dk1>
      <a:lt1>
        <a:srgbClr val="FFFFFF"/>
      </a:lt1>
      <a:dk2>
        <a:srgbClr val="12343B"/>
      </a:dk2>
      <a:lt2>
        <a:srgbClr val="EAF4F2"/>
      </a:lt2>
      <a:accent1>
        <a:srgbClr val="00C48C"/>
      </a:accent1>
      <a:accent2>
        <a:srgbClr val="FFB020"/>
      </a:accent2>
      <a:accent3>
        <a:srgbClr val="2D9CDB"/>
      </a:accent3>
      <a:accent4>
        <a:srgbClr val="7A8B99"/>
      </a:accent4>
      <a:accent5>
        <a:srgbClr val="E4572E"/>
      </a:accent5>
      <a:accent6>
        <a:srgbClr val="0F766E"/>
      </a:accent6>
      <a:hlink>
        <a:srgbClr val="2D9CDB"/>
      </a:hlink>
      <a:folHlink>
        <a:srgbClr val="7A8B99"/>
      </a:folHlink>
    </a:clrScheme>
    <a:fontScheme name="EnergyForecas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Data Center Energy and Cost Forecasting 2026</dc:title>
  <dc:subject>PptxGenJS Presentation</dc:subject>
  <dc:creator>PptxGenJS</dc:creator>
  <cp:lastModifiedBy>PptxGenJS</cp:lastModifiedBy>
  <cp:revision>1</cp:revision>
  <dcterms:created xsi:type="dcterms:W3CDTF">2026-10-13T05:39:24Z</dcterms:created>
  <dcterms:modified xsi:type="dcterms:W3CDTF">2026-10-13T05:39:24Z</dcterms:modified>
</cp:coreProperties>
</file>